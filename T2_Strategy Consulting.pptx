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35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BA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5"/>
  </p:normalViewPr>
  <p:slideViewPr>
    <p:cSldViewPr snapToGrid="0">
      <p:cViewPr>
        <p:scale>
          <a:sx n="200" d="100"/>
          <a:sy n="200" d="100"/>
        </p:scale>
        <p:origin x="-6514" y="-5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07DC6-C85A-6C49-9968-9EEB13EFDFC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6D263-71E7-BF4D-85FD-63DDFF32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6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EC6B-5FCE-E303-F470-69DCE251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87AE0-7AFD-A9DB-2CE8-851C3208F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2AF44-61FF-9B03-501B-4C1F91542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B5FB7-B0D0-3C83-32AB-99A08E70E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44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70898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399" y="2085628"/>
            <a:ext cx="10933801" cy="408913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8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EBDE-8D05-9A42-8C6E-5F748BF8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DF92-D9FC-96E8-851A-690F644F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50" y="668901"/>
            <a:ext cx="10933350" cy="4708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28BA74"/>
                </a:solidFill>
              </a:rPr>
              <a:t>Comparing the impact of competitor financial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C571D-069B-2731-4FB0-0A1B31512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251" y="1418559"/>
            <a:ext cx="2059448" cy="260057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200" b="1" dirty="0"/>
              <a:t>Instructions:</a:t>
            </a:r>
          </a:p>
          <a:p>
            <a:pPr lvl="1">
              <a:buNone/>
            </a:pPr>
            <a:r>
              <a:rPr lang="en-US" sz="1200" dirty="0"/>
              <a:t>Use the table to evaluate the financial impact of installment financing for the provided competitors. </a:t>
            </a:r>
          </a:p>
          <a:p>
            <a:pPr lvl="1">
              <a:buNone/>
            </a:pPr>
            <a:endParaRPr lang="en-US" sz="1200" dirty="0"/>
          </a:p>
          <a:p>
            <a:pPr lvl="1">
              <a:buNone/>
            </a:pPr>
            <a:r>
              <a:rPr lang="en-US" sz="1200" dirty="0"/>
              <a:t>Copy and paste the provided shapes to demonstrate if impact was:</a:t>
            </a:r>
          </a:p>
          <a:p>
            <a:pPr marL="455850" lvl="1" indent="-171450"/>
            <a:r>
              <a:rPr lang="en-US" sz="1200" dirty="0"/>
              <a:t>Extremely Positive</a:t>
            </a:r>
          </a:p>
          <a:p>
            <a:pPr marL="455850" lvl="1" indent="-171450"/>
            <a:r>
              <a:rPr lang="en-US" sz="1200" dirty="0"/>
              <a:t>Positive</a:t>
            </a:r>
          </a:p>
          <a:p>
            <a:pPr marL="455850" lvl="1" indent="-171450"/>
            <a:r>
              <a:rPr lang="en-US" sz="1200" dirty="0"/>
              <a:t>Neutral</a:t>
            </a:r>
          </a:p>
          <a:p>
            <a:pPr marL="455850" lvl="1" indent="-171450"/>
            <a:r>
              <a:rPr lang="en-US" sz="1200" dirty="0"/>
              <a:t>Negative </a:t>
            </a:r>
          </a:p>
          <a:p>
            <a:pPr marL="455850" lvl="1" indent="-171450"/>
            <a:r>
              <a:rPr lang="en-US" sz="1200" dirty="0"/>
              <a:t>Extremely Negative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3541B3-1047-9B28-D449-EF30F6D94DB8}"/>
              </a:ext>
            </a:extLst>
          </p:cNvPr>
          <p:cNvGraphicFramePr>
            <a:graphicFrameLocks/>
          </p:cNvGraphicFramePr>
          <p:nvPr/>
        </p:nvGraphicFramePr>
        <p:xfrm>
          <a:off x="3009649" y="1424117"/>
          <a:ext cx="8552202" cy="259080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434559">
                  <a:extLst>
                    <a:ext uri="{9D8B030D-6E8A-4147-A177-3AD203B41FA5}">
                      <a16:colId xmlns:a16="http://schemas.microsoft.com/office/drawing/2014/main" val="3375008755"/>
                    </a:ext>
                  </a:extLst>
                </a:gridCol>
                <a:gridCol w="1156494">
                  <a:extLst>
                    <a:ext uri="{9D8B030D-6E8A-4147-A177-3AD203B41FA5}">
                      <a16:colId xmlns:a16="http://schemas.microsoft.com/office/drawing/2014/main" val="543979859"/>
                    </a:ext>
                  </a:extLst>
                </a:gridCol>
                <a:gridCol w="1207961">
                  <a:extLst>
                    <a:ext uri="{9D8B030D-6E8A-4147-A177-3AD203B41FA5}">
                      <a16:colId xmlns:a16="http://schemas.microsoft.com/office/drawing/2014/main" val="2833714817"/>
                    </a:ext>
                  </a:extLst>
                </a:gridCol>
                <a:gridCol w="1264150">
                  <a:extLst>
                    <a:ext uri="{9D8B030D-6E8A-4147-A177-3AD203B41FA5}">
                      <a16:colId xmlns:a16="http://schemas.microsoft.com/office/drawing/2014/main" val="3386908878"/>
                    </a:ext>
                  </a:extLst>
                </a:gridCol>
                <a:gridCol w="1264150">
                  <a:extLst>
                    <a:ext uri="{9D8B030D-6E8A-4147-A177-3AD203B41FA5}">
                      <a16:colId xmlns:a16="http://schemas.microsoft.com/office/drawing/2014/main" val="1820547282"/>
                    </a:ext>
                  </a:extLst>
                </a:gridCol>
                <a:gridCol w="1112444">
                  <a:extLst>
                    <a:ext uri="{9D8B030D-6E8A-4147-A177-3AD203B41FA5}">
                      <a16:colId xmlns:a16="http://schemas.microsoft.com/office/drawing/2014/main" val="2629736330"/>
                    </a:ext>
                  </a:extLst>
                </a:gridCol>
                <a:gridCol w="1112444">
                  <a:extLst>
                    <a:ext uri="{9D8B030D-6E8A-4147-A177-3AD203B41FA5}">
                      <a16:colId xmlns:a16="http://schemas.microsoft.com/office/drawing/2014/main" val="1587388325"/>
                    </a:ext>
                  </a:extLst>
                </a:gridCol>
              </a:tblGrid>
              <a:tr h="239063">
                <a:tc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Company 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E6F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Company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E6F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Company 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E6F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05645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Y0 – Y1 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Y1 – Y2 ∆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Y0 – Y1 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Y1 – Y2 ∆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Y0 – Y1 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Y1 – Y2 ∆</a:t>
                      </a:r>
                    </a:p>
                  </a:txBody>
                  <a:tcPr anchor="ctr">
                    <a:solidFill>
                      <a:srgbClr val="E2F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12631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Sales / Revenue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134062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Operating Costs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33887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Interest Revenue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830417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Interest Expenses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514225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Taxes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475511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Profit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370604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Cash flow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766940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Debt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236807"/>
                  </a:ext>
                </a:extLst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6FF6C1C-2330-A0A1-2244-9F547091232F}"/>
              </a:ext>
            </a:extLst>
          </p:cNvPr>
          <p:cNvSpPr txBox="1">
            <a:spLocks/>
          </p:cNvSpPr>
          <p:nvPr/>
        </p:nvSpPr>
        <p:spPr>
          <a:xfrm>
            <a:off x="629250" y="4443746"/>
            <a:ext cx="10932600" cy="22603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200" b="1"/>
              <a:t>Follow-up Questions: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33C44E-EA81-3A0F-9E8E-FA1281F6BB5A}"/>
              </a:ext>
            </a:extLst>
          </p:cNvPr>
          <p:cNvSpPr txBox="1">
            <a:spLocks/>
          </p:cNvSpPr>
          <p:nvPr/>
        </p:nvSpPr>
        <p:spPr>
          <a:xfrm>
            <a:off x="776928" y="5094456"/>
            <a:ext cx="5170983" cy="1365337"/>
          </a:xfrm>
          <a:prstGeom prst="rect">
            <a:avLst/>
          </a:prstGeom>
          <a:solidFill>
            <a:srgbClr val="FFFFFF"/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200" i="1" dirty="0"/>
              <a:t>Short-term:</a:t>
            </a:r>
            <a:r>
              <a:rPr lang="en-US" sz="1200" dirty="0"/>
              <a:t> Revenue growth lags as sales shift from upfront to installment payments, and upfront program costs squeeze profits (referenced competitor data showing ~13.7% profit decline in Year 1).</a:t>
            </a:r>
            <a:br>
              <a:rPr lang="en-US" sz="1200" dirty="0"/>
            </a:br>
            <a:r>
              <a:rPr lang="en-US" sz="1200" i="1" dirty="0"/>
              <a:t>Long-term:</a:t>
            </a:r>
            <a:r>
              <a:rPr lang="en-US" sz="1200" dirty="0"/>
              <a:t> Installment financing drives 15-20% higher device sales, more frequent upgrades (customers 20% more likely to upgrade within year one), and generates interest revenue as a new income stream - supporting sustained 5-10% quarterly revenue growth per </a:t>
            </a:r>
            <a:r>
              <a:rPr lang="en-US" sz="1200" dirty="0" err="1"/>
              <a:t>TechCo's</a:t>
            </a:r>
            <a:r>
              <a:rPr lang="en-US" sz="1200" dirty="0"/>
              <a:t> model.</a:t>
            </a:r>
          </a:p>
        </p:txBody>
      </p:sp>
      <p:graphicFrame>
        <p:nvGraphicFramePr>
          <p:cNvPr id="30" name="Object 29" hidden="1">
            <a:extLst>
              <a:ext uri="{FF2B5EF4-FFF2-40B4-BE49-F238E27FC236}">
                <a16:creationId xmlns:a16="http://schemas.microsoft.com/office/drawing/2014/main" id="{6366A2F7-A236-0724-4545-FA123CCEF9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0" name="Object 29" hidden="1">
                        <a:extLst>
                          <a:ext uri="{FF2B5EF4-FFF2-40B4-BE49-F238E27FC236}">
                            <a16:creationId xmlns:a16="http://schemas.microsoft.com/office/drawing/2014/main" id="{6366A2F7-A236-0724-4545-FA123CCEF9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 hidden="1">
            <a:extLst>
              <a:ext uri="{FF2B5EF4-FFF2-40B4-BE49-F238E27FC236}">
                <a16:creationId xmlns:a16="http://schemas.microsoft.com/office/drawing/2014/main" id="{E35FE535-08F3-BCE2-B94B-1B50509D344B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A7AD39D-FF6C-0D3F-8948-22A9354B2CDB}"/>
              </a:ext>
            </a:extLst>
          </p:cNvPr>
          <p:cNvSpPr txBox="1">
            <a:spLocks/>
          </p:cNvSpPr>
          <p:nvPr/>
        </p:nvSpPr>
        <p:spPr>
          <a:xfrm>
            <a:off x="6390867" y="5094457"/>
            <a:ext cx="5170983" cy="1365336"/>
          </a:xfrm>
          <a:prstGeom prst="rect">
            <a:avLst/>
          </a:prstGeom>
          <a:solidFill>
            <a:srgbClr val="FFFFFF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200" i="1" dirty="0"/>
              <a:t>Short-term:</a:t>
            </a:r>
            <a:r>
              <a:rPr lang="en-US" sz="1200" dirty="0"/>
              <a:t> Cash drops sharply as devices go out on credit while costs are borne upfront (competitor data shows 35%+ cash declines in Year 1). Operating costs rise with financing administration and default risk management. </a:t>
            </a:r>
            <a:br>
              <a:rPr lang="en-US" sz="1200" dirty="0"/>
            </a:br>
            <a:r>
              <a:rPr lang="en-US" sz="1200" i="1" dirty="0"/>
              <a:t>Long-term:</a:t>
            </a:r>
            <a:r>
              <a:rPr lang="en-US" sz="1200" dirty="0"/>
              <a:t> Interest income builds as the portfolio matures, offsetting higher debt servicing costs. A growing customer base </a:t>
            </a:r>
            <a:r>
              <a:rPr lang="en-US" sz="1200"/>
              <a:t>(25-30</a:t>
            </a:r>
            <a:r>
              <a:rPr lang="en-US" sz="1200" dirty="0"/>
              <a:t>% YoY, per </a:t>
            </a:r>
            <a:r>
              <a:rPr lang="en-US" sz="1200" dirty="0" err="1"/>
              <a:t>TechCo</a:t>
            </a:r>
            <a:r>
              <a:rPr lang="en-US" sz="1200" dirty="0"/>
              <a:t>) generates stable recurring cash flow over time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B1C5D33-B64A-5912-A85D-2789C45E76B0}"/>
              </a:ext>
            </a:extLst>
          </p:cNvPr>
          <p:cNvSpPr txBox="1">
            <a:spLocks/>
          </p:cNvSpPr>
          <p:nvPr/>
        </p:nvSpPr>
        <p:spPr>
          <a:xfrm>
            <a:off x="629250" y="4675306"/>
            <a:ext cx="5364692" cy="4191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1200"/>
              <a:t>What are the short-term and long-term effects installment financing could have on our client’s</a:t>
            </a:r>
            <a:r>
              <a:rPr lang="en-US" sz="1200" b="1">
                <a:solidFill>
                  <a:srgbClr val="29BA74"/>
                </a:solidFill>
              </a:rPr>
              <a:t> revenues </a:t>
            </a:r>
            <a:r>
              <a:rPr lang="en-US" sz="1200"/>
              <a:t>and </a:t>
            </a:r>
            <a:r>
              <a:rPr lang="en-US" sz="1200" b="1">
                <a:solidFill>
                  <a:srgbClr val="29BA74"/>
                </a:solidFill>
              </a:rPr>
              <a:t>profits</a:t>
            </a:r>
            <a:r>
              <a:rPr lang="en-US" sz="1200"/>
              <a:t>?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8374BEC-DD17-25C6-E5E2-FBEF43E9280C}"/>
              </a:ext>
            </a:extLst>
          </p:cNvPr>
          <p:cNvSpPr txBox="1">
            <a:spLocks/>
          </p:cNvSpPr>
          <p:nvPr/>
        </p:nvSpPr>
        <p:spPr>
          <a:xfrm>
            <a:off x="6243189" y="4675306"/>
            <a:ext cx="5364692" cy="4191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228600" indent="-228600">
              <a:buFont typeface="+mj-lt"/>
              <a:buAutoNum type="arabicPeriod" startAt="2"/>
            </a:pPr>
            <a:r>
              <a:rPr lang="en-US" sz="1200"/>
              <a:t>How might </a:t>
            </a:r>
            <a:r>
              <a:rPr lang="en-US" sz="1200" b="1">
                <a:solidFill>
                  <a:srgbClr val="29BA74"/>
                </a:solidFill>
              </a:rPr>
              <a:t>costs</a:t>
            </a:r>
            <a:r>
              <a:rPr lang="en-US" sz="1200"/>
              <a:t> and </a:t>
            </a:r>
            <a:r>
              <a:rPr lang="en-US" sz="1200" b="1">
                <a:solidFill>
                  <a:srgbClr val="29BA74"/>
                </a:solidFill>
              </a:rPr>
              <a:t>available cash </a:t>
            </a:r>
            <a:r>
              <a:rPr lang="en-US" sz="1200"/>
              <a:t>be impacted in the short term and long term if our client implements installment financing?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0B2FC8-3A35-EECE-ABCD-A961D9CA95A5}"/>
              </a:ext>
            </a:extLst>
          </p:cNvPr>
          <p:cNvSpPr txBox="1">
            <a:spLocks/>
          </p:cNvSpPr>
          <p:nvPr/>
        </p:nvSpPr>
        <p:spPr>
          <a:xfrm>
            <a:off x="3009646" y="4084758"/>
            <a:ext cx="8552202" cy="3266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1">
              <a:buNone/>
            </a:pPr>
            <a:r>
              <a:rPr lang="en-US" sz="1050" b="1" i="1" u="sng" dirty="0">
                <a:solidFill>
                  <a:srgbClr val="6E6F73"/>
                </a:solidFill>
              </a:rPr>
              <a:t>Tip</a:t>
            </a:r>
            <a:r>
              <a:rPr lang="en-US" sz="1050" i="1" dirty="0">
                <a:solidFill>
                  <a:srgbClr val="6E6F73"/>
                </a:solidFill>
              </a:rPr>
              <a:t>: Your first step should be to define parameters for the various impact levels. For example, change rates ±3% might be considered standard market fluctuations and therefore considered “Neutral” impact.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025D3D-F9F3-FBB1-CB35-32037971A334}"/>
              </a:ext>
            </a:extLst>
          </p:cNvPr>
          <p:cNvSpPr/>
          <p:nvPr/>
        </p:nvSpPr>
        <p:spPr>
          <a:xfrm>
            <a:off x="2593960" y="3270298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878583-006F-59F3-0C3D-B0F9AF30B71E}"/>
              </a:ext>
            </a:extLst>
          </p:cNvPr>
          <p:cNvSpPr/>
          <p:nvPr/>
        </p:nvSpPr>
        <p:spPr>
          <a:xfrm>
            <a:off x="2593960" y="3448264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726E43-2279-3586-FACC-03AE73A4AF84}"/>
              </a:ext>
            </a:extLst>
          </p:cNvPr>
          <p:cNvSpPr/>
          <p:nvPr/>
        </p:nvSpPr>
        <p:spPr>
          <a:xfrm>
            <a:off x="2593960" y="3626230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D1E8C9-9A57-BBF8-DEC2-7488DB5F0A07}"/>
              </a:ext>
            </a:extLst>
          </p:cNvPr>
          <p:cNvSpPr/>
          <p:nvPr/>
        </p:nvSpPr>
        <p:spPr>
          <a:xfrm>
            <a:off x="2452227" y="3092333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197A5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+ +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B68566-384A-1CD0-BC6C-4A7D52241C90}"/>
              </a:ext>
            </a:extLst>
          </p:cNvPr>
          <p:cNvSpPr/>
          <p:nvPr/>
        </p:nvSpPr>
        <p:spPr>
          <a:xfrm>
            <a:off x="2452227" y="3819185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9749E7-D317-50D4-8C86-82029ED34AC7}"/>
              </a:ext>
            </a:extLst>
          </p:cNvPr>
          <p:cNvSpPr/>
          <p:nvPr/>
        </p:nvSpPr>
        <p:spPr>
          <a:xfrm>
            <a:off x="6158522" y="2031399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014B40-25BD-66A5-51D4-B259B03C03E9}"/>
              </a:ext>
            </a:extLst>
          </p:cNvPr>
          <p:cNvSpPr/>
          <p:nvPr/>
        </p:nvSpPr>
        <p:spPr>
          <a:xfrm>
            <a:off x="6158522" y="2276927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9BE568-19A7-E800-3A84-DE3603DE8A03}"/>
              </a:ext>
            </a:extLst>
          </p:cNvPr>
          <p:cNvSpPr/>
          <p:nvPr/>
        </p:nvSpPr>
        <p:spPr>
          <a:xfrm>
            <a:off x="6158521" y="2514648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A5AC0D-6349-7787-1C7F-FA48DBE6D345}"/>
              </a:ext>
            </a:extLst>
          </p:cNvPr>
          <p:cNvSpPr/>
          <p:nvPr/>
        </p:nvSpPr>
        <p:spPr>
          <a:xfrm>
            <a:off x="6156208" y="2752369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247725-28D7-C947-E9F6-9F11B4CEBB7F}"/>
              </a:ext>
            </a:extLst>
          </p:cNvPr>
          <p:cNvSpPr/>
          <p:nvPr/>
        </p:nvSpPr>
        <p:spPr>
          <a:xfrm>
            <a:off x="6156208" y="3021982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A4832D-AD03-AE25-14F4-0E1BA8B52DA0}"/>
              </a:ext>
            </a:extLst>
          </p:cNvPr>
          <p:cNvSpPr/>
          <p:nvPr/>
        </p:nvSpPr>
        <p:spPr>
          <a:xfrm>
            <a:off x="6153895" y="3289810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68D15D-4FE2-40A5-2DB9-24E16137D0C9}"/>
              </a:ext>
            </a:extLst>
          </p:cNvPr>
          <p:cNvSpPr/>
          <p:nvPr/>
        </p:nvSpPr>
        <p:spPr>
          <a:xfrm>
            <a:off x="6153895" y="3550158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EF9AAF-C70E-3931-7F58-5BEF8F2565B7}"/>
              </a:ext>
            </a:extLst>
          </p:cNvPr>
          <p:cNvSpPr/>
          <p:nvPr/>
        </p:nvSpPr>
        <p:spPr>
          <a:xfrm>
            <a:off x="6173501" y="3789732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7542B3A-8744-D9B7-179F-A1A90253C4AC}"/>
              </a:ext>
            </a:extLst>
          </p:cNvPr>
          <p:cNvSpPr/>
          <p:nvPr/>
        </p:nvSpPr>
        <p:spPr>
          <a:xfrm>
            <a:off x="4887580" y="2007777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EA33A0-3871-1332-A0E0-AEC45E32B882}"/>
              </a:ext>
            </a:extLst>
          </p:cNvPr>
          <p:cNvSpPr/>
          <p:nvPr/>
        </p:nvSpPr>
        <p:spPr>
          <a:xfrm>
            <a:off x="7386964" y="3289809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7482F20-82C8-A228-0A7D-C810A609E9BB}"/>
              </a:ext>
            </a:extLst>
          </p:cNvPr>
          <p:cNvSpPr/>
          <p:nvPr/>
        </p:nvSpPr>
        <p:spPr>
          <a:xfrm>
            <a:off x="7386963" y="2001813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3371AA0-5D91-61A6-020B-161D2A3FC60A}"/>
              </a:ext>
            </a:extLst>
          </p:cNvPr>
          <p:cNvSpPr/>
          <p:nvPr/>
        </p:nvSpPr>
        <p:spPr>
          <a:xfrm>
            <a:off x="4887579" y="3289809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4857F45-C80A-4016-1ED7-3C98ECBE397F}"/>
              </a:ext>
            </a:extLst>
          </p:cNvPr>
          <p:cNvSpPr/>
          <p:nvPr/>
        </p:nvSpPr>
        <p:spPr>
          <a:xfrm>
            <a:off x="4887580" y="3532930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002C52B-8EE5-C8C5-1CEB-BC2BD4820760}"/>
              </a:ext>
            </a:extLst>
          </p:cNvPr>
          <p:cNvSpPr/>
          <p:nvPr/>
        </p:nvSpPr>
        <p:spPr>
          <a:xfrm>
            <a:off x="8684661" y="3261665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0B5DB3-8AAC-7733-40BA-019B8366C2C2}"/>
              </a:ext>
            </a:extLst>
          </p:cNvPr>
          <p:cNvSpPr/>
          <p:nvPr/>
        </p:nvSpPr>
        <p:spPr>
          <a:xfrm>
            <a:off x="8689695" y="2001812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8350666-328F-19F1-62C5-962BA4E1EC87}"/>
              </a:ext>
            </a:extLst>
          </p:cNvPr>
          <p:cNvSpPr/>
          <p:nvPr/>
        </p:nvSpPr>
        <p:spPr>
          <a:xfrm>
            <a:off x="9814153" y="3029907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56A3012-702A-2BDE-C0C3-91D4F44EF1E8}"/>
              </a:ext>
            </a:extLst>
          </p:cNvPr>
          <p:cNvSpPr/>
          <p:nvPr/>
        </p:nvSpPr>
        <p:spPr>
          <a:xfrm>
            <a:off x="10919053" y="1979883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BB01310-AB10-6F5A-F4C4-9C4792D00F4B}"/>
              </a:ext>
            </a:extLst>
          </p:cNvPr>
          <p:cNvSpPr/>
          <p:nvPr/>
        </p:nvSpPr>
        <p:spPr>
          <a:xfrm>
            <a:off x="4887579" y="2495619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2636F63-A9CF-77EC-AD2F-09DA680922DE}"/>
              </a:ext>
            </a:extLst>
          </p:cNvPr>
          <p:cNvSpPr/>
          <p:nvPr/>
        </p:nvSpPr>
        <p:spPr>
          <a:xfrm>
            <a:off x="4887579" y="2770353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2D7BC1A-683F-0A6A-C8EE-C4F478806D40}"/>
              </a:ext>
            </a:extLst>
          </p:cNvPr>
          <p:cNvSpPr/>
          <p:nvPr/>
        </p:nvSpPr>
        <p:spPr>
          <a:xfrm>
            <a:off x="4887578" y="3021982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81464E8-36DA-DB0D-3484-3827A39AC7DB}"/>
              </a:ext>
            </a:extLst>
          </p:cNvPr>
          <p:cNvSpPr/>
          <p:nvPr/>
        </p:nvSpPr>
        <p:spPr>
          <a:xfrm>
            <a:off x="7386963" y="2514648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728BD8D-9FA4-A365-A20F-F07E2C421FDC}"/>
              </a:ext>
            </a:extLst>
          </p:cNvPr>
          <p:cNvSpPr/>
          <p:nvPr/>
        </p:nvSpPr>
        <p:spPr>
          <a:xfrm>
            <a:off x="7386963" y="2796485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5654AD-4A54-0AA7-65F5-25341ACC6E5A}"/>
              </a:ext>
            </a:extLst>
          </p:cNvPr>
          <p:cNvSpPr/>
          <p:nvPr/>
        </p:nvSpPr>
        <p:spPr>
          <a:xfrm>
            <a:off x="8684661" y="2495618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48C42A-0C6B-903A-F272-D833CB55AD59}"/>
              </a:ext>
            </a:extLst>
          </p:cNvPr>
          <p:cNvSpPr/>
          <p:nvPr/>
        </p:nvSpPr>
        <p:spPr>
          <a:xfrm>
            <a:off x="8684660" y="2779936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2110D4C-0891-CA9D-B8D0-EFC189992E50}"/>
              </a:ext>
            </a:extLst>
          </p:cNvPr>
          <p:cNvSpPr/>
          <p:nvPr/>
        </p:nvSpPr>
        <p:spPr>
          <a:xfrm>
            <a:off x="9814153" y="3792710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3DBD632-B195-45A4-FC34-41755B85A8CB}"/>
              </a:ext>
            </a:extLst>
          </p:cNvPr>
          <p:cNvSpPr/>
          <p:nvPr/>
        </p:nvSpPr>
        <p:spPr>
          <a:xfrm>
            <a:off x="4887577" y="2238855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78E358E-67C2-2FFB-FD19-67D4407B1DA9}"/>
              </a:ext>
            </a:extLst>
          </p:cNvPr>
          <p:cNvSpPr/>
          <p:nvPr/>
        </p:nvSpPr>
        <p:spPr>
          <a:xfrm>
            <a:off x="4887577" y="3800757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30E3B09-A27F-2BD9-D3CF-0D78091F5AA7}"/>
              </a:ext>
            </a:extLst>
          </p:cNvPr>
          <p:cNvSpPr/>
          <p:nvPr/>
        </p:nvSpPr>
        <p:spPr>
          <a:xfrm>
            <a:off x="7386962" y="2238855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69D246-66B6-A315-27D9-4C4EA5E8D1B9}"/>
              </a:ext>
            </a:extLst>
          </p:cNvPr>
          <p:cNvSpPr/>
          <p:nvPr/>
        </p:nvSpPr>
        <p:spPr>
          <a:xfrm>
            <a:off x="7386961" y="3029907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1CB8E9-42DD-D65B-1E75-BE1A7F804EEF}"/>
              </a:ext>
            </a:extLst>
          </p:cNvPr>
          <p:cNvSpPr/>
          <p:nvPr/>
        </p:nvSpPr>
        <p:spPr>
          <a:xfrm>
            <a:off x="7386960" y="3532930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6B23CA6-54E8-C159-49DB-A882367F0369}"/>
              </a:ext>
            </a:extLst>
          </p:cNvPr>
          <p:cNvSpPr/>
          <p:nvPr/>
        </p:nvSpPr>
        <p:spPr>
          <a:xfrm>
            <a:off x="7386960" y="3794631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4BE3CC2-44AA-0E2B-44C7-AB9299E19C54}"/>
              </a:ext>
            </a:extLst>
          </p:cNvPr>
          <p:cNvSpPr/>
          <p:nvPr/>
        </p:nvSpPr>
        <p:spPr>
          <a:xfrm>
            <a:off x="8684660" y="2238855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8417837-3532-4AA9-5183-589A34DE295D}"/>
              </a:ext>
            </a:extLst>
          </p:cNvPr>
          <p:cNvSpPr/>
          <p:nvPr/>
        </p:nvSpPr>
        <p:spPr>
          <a:xfrm>
            <a:off x="8684660" y="3038812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8217A1-A0CE-4849-F90A-AAB2587DB9DB}"/>
              </a:ext>
            </a:extLst>
          </p:cNvPr>
          <p:cNvSpPr/>
          <p:nvPr/>
        </p:nvSpPr>
        <p:spPr>
          <a:xfrm>
            <a:off x="8684660" y="3550158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100A9E5-0015-EB89-7180-10DE1B84ED36}"/>
              </a:ext>
            </a:extLst>
          </p:cNvPr>
          <p:cNvSpPr/>
          <p:nvPr/>
        </p:nvSpPr>
        <p:spPr>
          <a:xfrm>
            <a:off x="8684660" y="3787155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63CF156-3687-EBF5-3145-1EDBD5F9A3BC}"/>
              </a:ext>
            </a:extLst>
          </p:cNvPr>
          <p:cNvSpPr/>
          <p:nvPr/>
        </p:nvSpPr>
        <p:spPr>
          <a:xfrm>
            <a:off x="10919053" y="2263451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DACEC6B-66CF-BE4A-119B-15CD60FE0D86}"/>
              </a:ext>
            </a:extLst>
          </p:cNvPr>
          <p:cNvSpPr/>
          <p:nvPr/>
        </p:nvSpPr>
        <p:spPr>
          <a:xfrm>
            <a:off x="10919052" y="2764371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61" name="Rounded Rectangle 16">
            <a:extLst>
              <a:ext uri="{FF2B5EF4-FFF2-40B4-BE49-F238E27FC236}">
                <a16:creationId xmlns:a16="http://schemas.microsoft.com/office/drawing/2014/main" id="{9A023FAA-C637-EE71-1C4F-30961AEFC3DC}"/>
              </a:ext>
            </a:extLst>
          </p:cNvPr>
          <p:cNvSpPr/>
          <p:nvPr/>
        </p:nvSpPr>
        <p:spPr>
          <a:xfrm>
            <a:off x="9690612" y="2001813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197A5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 +</a:t>
            </a:r>
          </a:p>
        </p:txBody>
      </p:sp>
      <p:sp>
        <p:nvSpPr>
          <p:cNvPr id="62" name="Rounded Rectangle 16">
            <a:extLst>
              <a:ext uri="{FF2B5EF4-FFF2-40B4-BE49-F238E27FC236}">
                <a16:creationId xmlns:a16="http://schemas.microsoft.com/office/drawing/2014/main" id="{C79FF045-16C9-1261-7BF7-85E159FA064B}"/>
              </a:ext>
            </a:extLst>
          </p:cNvPr>
          <p:cNvSpPr/>
          <p:nvPr/>
        </p:nvSpPr>
        <p:spPr>
          <a:xfrm>
            <a:off x="9690612" y="2505630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197A5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 +</a:t>
            </a:r>
          </a:p>
        </p:txBody>
      </p:sp>
      <p:sp>
        <p:nvSpPr>
          <p:cNvPr id="63" name="Rounded Rectangle 16">
            <a:extLst>
              <a:ext uri="{FF2B5EF4-FFF2-40B4-BE49-F238E27FC236}">
                <a16:creationId xmlns:a16="http://schemas.microsoft.com/office/drawing/2014/main" id="{A06E6519-9D33-1EE7-3082-1428983D0130}"/>
              </a:ext>
            </a:extLst>
          </p:cNvPr>
          <p:cNvSpPr/>
          <p:nvPr/>
        </p:nvSpPr>
        <p:spPr>
          <a:xfrm>
            <a:off x="10777318" y="2495618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197A5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 +</a:t>
            </a: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15BC2C8A-58D8-4F85-0FEB-5744BABEE3FB}"/>
              </a:ext>
            </a:extLst>
          </p:cNvPr>
          <p:cNvSpPr/>
          <p:nvPr/>
        </p:nvSpPr>
        <p:spPr>
          <a:xfrm>
            <a:off x="10772819" y="3268189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197A5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+ +</a:t>
            </a:r>
          </a:p>
        </p:txBody>
      </p:sp>
      <p:sp>
        <p:nvSpPr>
          <p:cNvPr id="66" name="Rounded Rectangle 17">
            <a:extLst>
              <a:ext uri="{FF2B5EF4-FFF2-40B4-BE49-F238E27FC236}">
                <a16:creationId xmlns:a16="http://schemas.microsoft.com/office/drawing/2014/main" id="{56CD1212-49D0-9DCC-BFFF-6DB5D3E8B2BC}"/>
              </a:ext>
            </a:extLst>
          </p:cNvPr>
          <p:cNvSpPr/>
          <p:nvPr/>
        </p:nvSpPr>
        <p:spPr>
          <a:xfrm>
            <a:off x="9690611" y="2263451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67" name="Rounded Rectangle 17">
            <a:extLst>
              <a:ext uri="{FF2B5EF4-FFF2-40B4-BE49-F238E27FC236}">
                <a16:creationId xmlns:a16="http://schemas.microsoft.com/office/drawing/2014/main" id="{F77B92D2-53A8-5E38-1168-0FABFE699167}"/>
              </a:ext>
            </a:extLst>
          </p:cNvPr>
          <p:cNvSpPr/>
          <p:nvPr/>
        </p:nvSpPr>
        <p:spPr>
          <a:xfrm>
            <a:off x="9690611" y="2765821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68" name="Rounded Rectangle 17">
            <a:extLst>
              <a:ext uri="{FF2B5EF4-FFF2-40B4-BE49-F238E27FC236}">
                <a16:creationId xmlns:a16="http://schemas.microsoft.com/office/drawing/2014/main" id="{445987C3-D542-BC70-66C0-E9B311EB766F}"/>
              </a:ext>
            </a:extLst>
          </p:cNvPr>
          <p:cNvSpPr/>
          <p:nvPr/>
        </p:nvSpPr>
        <p:spPr>
          <a:xfrm>
            <a:off x="9690610" y="3275436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69" name="Rounded Rectangle 17">
            <a:extLst>
              <a:ext uri="{FF2B5EF4-FFF2-40B4-BE49-F238E27FC236}">
                <a16:creationId xmlns:a16="http://schemas.microsoft.com/office/drawing/2014/main" id="{F9A2468D-E801-988D-49B9-FAEED8F2AE13}"/>
              </a:ext>
            </a:extLst>
          </p:cNvPr>
          <p:cNvSpPr/>
          <p:nvPr/>
        </p:nvSpPr>
        <p:spPr>
          <a:xfrm>
            <a:off x="9690610" y="3527539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70" name="Rounded Rectangle 17">
            <a:extLst>
              <a:ext uri="{FF2B5EF4-FFF2-40B4-BE49-F238E27FC236}">
                <a16:creationId xmlns:a16="http://schemas.microsoft.com/office/drawing/2014/main" id="{B2D85465-38B8-E041-DEC5-6BF368A051B5}"/>
              </a:ext>
            </a:extLst>
          </p:cNvPr>
          <p:cNvSpPr/>
          <p:nvPr/>
        </p:nvSpPr>
        <p:spPr>
          <a:xfrm>
            <a:off x="10777317" y="3048690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71" name="Rounded Rectangle 17">
            <a:extLst>
              <a:ext uri="{FF2B5EF4-FFF2-40B4-BE49-F238E27FC236}">
                <a16:creationId xmlns:a16="http://schemas.microsoft.com/office/drawing/2014/main" id="{B73B4E44-F646-3917-3CAF-D70A17ED6B4A}"/>
              </a:ext>
            </a:extLst>
          </p:cNvPr>
          <p:cNvSpPr/>
          <p:nvPr/>
        </p:nvSpPr>
        <p:spPr>
          <a:xfrm>
            <a:off x="10772819" y="3535117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  <p:sp>
        <p:nvSpPr>
          <p:cNvPr id="72" name="Rounded Rectangle 17">
            <a:extLst>
              <a:ext uri="{FF2B5EF4-FFF2-40B4-BE49-F238E27FC236}">
                <a16:creationId xmlns:a16="http://schemas.microsoft.com/office/drawing/2014/main" id="{A9936829-D80D-C67D-02F1-1BE55A7239A4}"/>
              </a:ext>
            </a:extLst>
          </p:cNvPr>
          <p:cNvSpPr/>
          <p:nvPr/>
        </p:nvSpPr>
        <p:spPr>
          <a:xfrm>
            <a:off x="10777317" y="3802046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- -</a:t>
            </a:r>
          </a:p>
        </p:txBody>
      </p:sp>
    </p:spTree>
    <p:extLst>
      <p:ext uri="{BB962C8B-B14F-4D97-AF65-F5344CB8AC3E}">
        <p14:creationId xmlns:p14="http://schemas.microsoft.com/office/powerpoint/2010/main" val="16255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RGjgtUESheJieGFcsjDRQ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379</Words>
  <Application>Microsoft Office PowerPoint</Application>
  <PresentationFormat>Widescreen</PresentationFormat>
  <Paragraphs>70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Trebuchet MS</vt:lpstr>
      <vt:lpstr>Office Theme</vt:lpstr>
      <vt:lpstr>think-cell Slide</vt:lpstr>
      <vt:lpstr>Comparing the impact of competitor financial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Scobee, Kyle</dc:creator>
  <cp:lastModifiedBy>Vishvjeet Thakur</cp:lastModifiedBy>
  <cp:revision>4</cp:revision>
  <dcterms:created xsi:type="dcterms:W3CDTF">2025-09-05T20:16:28Z</dcterms:created>
  <dcterms:modified xsi:type="dcterms:W3CDTF">2026-05-10T07:15:39Z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2025-09-05T20:18:04Z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cfadeeaa-2693-4643-b652-5f59caf06cac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50, 3, 0, 1</vt:lpwstr>
  </property>
</Properties>
</file>